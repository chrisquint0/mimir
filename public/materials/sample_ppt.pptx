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4B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0584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32461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AI Agent Bootcamp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37947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chatting with AI to building autonomous systems that work for you.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Mimir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75488" cy="475488"/>
          </a:xfrm>
          <a:prstGeom prst="ellipse">
            <a:avLst/>
          </a:prstGeom>
          <a:solidFill>
            <a:srgbClr val="00C4B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1051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vs. Agents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2984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knowledge to action — the fundamental difference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475488" cy="475488"/>
          </a:xfrm>
          <a:prstGeom prst="ellipse">
            <a:avLst/>
          </a:prstGeom>
          <a:solidFill>
            <a:srgbClr val="00C4B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562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8105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Loops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0574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"heartbeat" of an agent: ReAct framework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69464"/>
            <a:ext cx="475488" cy="475488"/>
          </a:xfrm>
          <a:prstGeom prst="ellipse">
            <a:avLst/>
          </a:prstGeom>
          <a:solidFill>
            <a:srgbClr val="00C4B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1518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5694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Goal-Oriented Reasoning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28163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down vague goals into executable steps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28416"/>
            <a:ext cx="475488" cy="475488"/>
          </a:xfrm>
          <a:prstGeom prst="ellipse">
            <a:avLst/>
          </a:prstGeom>
          <a:solidFill>
            <a:srgbClr val="00C4B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7413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3284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5753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research agent and a common mistake to avoid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87368"/>
            <a:ext cx="475488" cy="475488"/>
          </a:xfrm>
          <a:prstGeom prst="ellipse">
            <a:avLst/>
          </a:prstGeom>
          <a:solidFill>
            <a:srgbClr val="00C4B4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3308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087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43342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principles to carry into every build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vs. Agents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Knowledge to Action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840480" cy="3383280"/>
          </a:xfrm>
          <a:prstGeom prst="rect">
            <a:avLst/>
          </a:prstGeom>
          <a:solidFill>
            <a:srgbClr val="E8F4FD"/>
          </a:solidFill>
          <a:ln w="12700">
            <a:solidFill>
              <a:srgbClr val="C5DF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840480" cy="457200"/>
          </a:xfrm>
          <a:prstGeom prst="rect">
            <a:avLst/>
          </a:prstGeom>
          <a:solidFill>
            <a:srgbClr val="2196A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0700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LLM — The Librarian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Reads every book in the library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037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Answers questions brilliantly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24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Stays behind the desk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044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Cannot take real-world actions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4655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Input: a prompt → Output: text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3383280"/>
          </a:xfrm>
          <a:prstGeom prst="rect">
            <a:avLst/>
          </a:prstGeom>
          <a:solidFill>
            <a:srgbClr val="E6FAF8"/>
          </a:solidFill>
          <a:ln w="12700">
            <a:solidFill>
              <a:srgbClr val="A0DD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solidFill>
            <a:srgbClr val="00C4B4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20700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Agent — The Executive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Uses the librarian's knowledge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2037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Has a phone, computer &amp; credit card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624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Leaves the library to 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044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Completes multi-step missions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4655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Input: a goal → Output: a result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32104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81728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An LLM predicts the next word. An Agent decides the next ACTION.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Comparison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384048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2918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(The Brain)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 (Body + Brain)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8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prompt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high-level goal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or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completed task or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(internal knowledge only)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Browsers, APIs, Zapier, Databases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needs step-by-step instructions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figures out the "how" on its 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 per conversation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persist state across steps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Loops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"Heartbeat" of an Agent — ReAct Framework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280160" cy="1280160"/>
          </a:xfrm>
          <a:prstGeom prst="ellipse">
            <a:avLst/>
          </a:prstGeom>
          <a:solidFill>
            <a:srgbClr val="00C4B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53619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572768" y="1856232"/>
            <a:ext cx="411480" cy="91440"/>
          </a:xfrm>
          <a:prstGeom prst="rect">
            <a:avLst/>
          </a:prstGeom>
          <a:solidFill>
            <a:srgbClr val="8CA0B3"/>
          </a:solidFill>
          <a:ln/>
        </p:spPr>
      </p:sp>
      <p:sp>
        <p:nvSpPr>
          <p:cNvPr id="7" name="Text 5"/>
          <p:cNvSpPr/>
          <p:nvPr/>
        </p:nvSpPr>
        <p:spPr>
          <a:xfrm>
            <a:off x="1847088" y="17373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A0B3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current state or request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1280160"/>
            <a:ext cx="1280160" cy="1280160"/>
          </a:xfrm>
          <a:prstGeom prst="ellipse">
            <a:avLst/>
          </a:prstGeom>
          <a:solidFill>
            <a:srgbClr val="00C4B4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153619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310128" y="1856232"/>
            <a:ext cx="411480" cy="91440"/>
          </a:xfrm>
          <a:prstGeom prst="rect">
            <a:avLst/>
          </a:prstGeom>
          <a:solidFill>
            <a:srgbClr val="8CA0B3"/>
          </a:solidFill>
          <a:ln/>
        </p:spPr>
      </p:sp>
      <p:sp>
        <p:nvSpPr>
          <p:cNvPr id="13" name="Text 11"/>
          <p:cNvSpPr/>
          <p:nvPr/>
        </p:nvSpPr>
        <p:spPr>
          <a:xfrm>
            <a:off x="3584448" y="17373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A0B3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7452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what needs to happen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1280160"/>
            <a:ext cx="1280160" cy="1280160"/>
          </a:xfrm>
          <a:prstGeom prst="ellipse">
            <a:avLst/>
          </a:prstGeom>
          <a:solidFill>
            <a:srgbClr val="00C4B4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153619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047488" y="1856232"/>
            <a:ext cx="411480" cy="91440"/>
          </a:xfrm>
          <a:prstGeom prst="rect">
            <a:avLst/>
          </a:prstGeom>
          <a:solidFill>
            <a:srgbClr val="8CA0B3"/>
          </a:solidFill>
          <a:ln/>
        </p:spPr>
      </p:sp>
      <p:sp>
        <p:nvSpPr>
          <p:cNvPr id="19" name="Text 17"/>
          <p:cNvSpPr/>
          <p:nvPr/>
        </p:nvSpPr>
        <p:spPr>
          <a:xfrm>
            <a:off x="5321808" y="17373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A0B3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1188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which tool or step to take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1280160"/>
            <a:ext cx="1280160" cy="1280160"/>
          </a:xfrm>
          <a:prstGeom prst="ellipse">
            <a:avLst/>
          </a:prstGeom>
          <a:solidFill>
            <a:srgbClr val="00C4B4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153619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6784848" y="1856232"/>
            <a:ext cx="411480" cy="91440"/>
          </a:xfrm>
          <a:prstGeom prst="rect">
            <a:avLst/>
          </a:prstGeom>
          <a:solidFill>
            <a:srgbClr val="8CA0B3"/>
          </a:solidFill>
          <a:ln/>
        </p:spPr>
      </p:sp>
      <p:sp>
        <p:nvSpPr>
          <p:cNvPr id="25" name="Text 23"/>
          <p:cNvSpPr/>
          <p:nvPr/>
        </p:nvSpPr>
        <p:spPr>
          <a:xfrm>
            <a:off x="7059168" y="17373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A0B3"/>
                </a:solidFill>
              </a:rPr>
              <a:t>▶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9496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— search, send, call an API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23760" y="1280160"/>
            <a:ext cx="1280160" cy="1280160"/>
          </a:xfrm>
          <a:prstGeom prst="ellipse">
            <a:avLst/>
          </a:prstGeom>
          <a:solidFill>
            <a:srgbClr val="00C4B4"/>
          </a:solidFill>
          <a:ln/>
        </p:spPr>
      </p:sp>
      <p:sp>
        <p:nvSpPr>
          <p:cNvPr id="29" name="Text 27"/>
          <p:cNvSpPr/>
          <p:nvPr/>
        </p:nvSpPr>
        <p:spPr>
          <a:xfrm>
            <a:off x="7223760" y="153619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13232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8660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result, loop until job is done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297680"/>
            <a:ext cx="8503920" cy="73152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3891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The loop repeats until the task is complete — this is what makes agents autonomous.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Goal-Oriented Reasoning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goal → dynamic sub-task breakdown via Chain of Thought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5669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116128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"Book a trip to Tokyo for next Tuesday."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43400" y="17190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A0B3"/>
                </a:solidFill>
              </a:rPr>
              <a:t>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84048" cy="384048"/>
          </a:xfrm>
          <a:prstGeom prst="rect">
            <a:avLst/>
          </a:prstGeom>
          <a:solidFill>
            <a:srgbClr val="00C4B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3969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2103120"/>
            <a:ext cx="7680960" cy="384048"/>
          </a:xfrm>
          <a:prstGeom prst="rect">
            <a:avLst/>
          </a:prstGeom>
          <a:solidFill>
            <a:srgbClr val="EEF6FA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13969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user's calendar for availability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84048" cy="384048"/>
          </a:xfrm>
          <a:prstGeom prst="rect">
            <a:avLst/>
          </a:prstGeom>
          <a:solidFill>
            <a:srgbClr val="00C4B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8833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0120" y="2651760"/>
            <a:ext cx="768096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68833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flights departing on Tuesday morning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384048" cy="384048"/>
          </a:xfrm>
          <a:prstGeom prst="rect">
            <a:avLst/>
          </a:prstGeom>
          <a:solidFill>
            <a:srgbClr val="00C4B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3697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60120" y="3200400"/>
            <a:ext cx="7680960" cy="384048"/>
          </a:xfrm>
          <a:prstGeom prst="rect">
            <a:avLst/>
          </a:prstGeom>
          <a:solidFill>
            <a:srgbClr val="EE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23697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prices against the user's saved budget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384048" cy="384048"/>
          </a:xfrm>
          <a:prstGeom prst="rect">
            <a:avLst/>
          </a:prstGeom>
          <a:solidFill>
            <a:srgbClr val="00C4B4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8561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0120" y="3749040"/>
            <a:ext cx="768096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378561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over budget → search Monday night flights instead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384048" cy="384048"/>
          </a:xfrm>
          <a:prstGeom prst="rect">
            <a:avLst/>
          </a:prstGeom>
          <a:solidFill>
            <a:srgbClr val="00C4B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33425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0120" y="4297680"/>
            <a:ext cx="7680960" cy="384048"/>
          </a:xfrm>
          <a:prstGeom prst="rect">
            <a:avLst/>
          </a:prstGeom>
          <a:solidFill>
            <a:srgbClr val="EEF6FA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433425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via Stripe tool → send confirmation via Gmail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logic is generated dynamically by the LLM — not hard-coded by a programmer.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The Research Agent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4114800"/>
          </a:xfrm>
          <a:prstGeom prst="rect">
            <a:avLst/>
          </a:prstGeom>
          <a:solidFill>
            <a:srgbClr val="152028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langchain_openai </a:t>
            </a:r>
            <a:pPr indent="0" marL="0">
              <a:buNone/>
            </a:pP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ChatOpenAI
</a:t>
            </a:r>
            <a:pPr indent="0" marL="0">
              <a:buNone/>
            </a:pP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langchain.agents </a:t>
            </a:r>
            <a:pPr indent="0" marL="0">
              <a:buNone/>
            </a:pP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initialize_agent, Tool, AgentType
</a:t>
            </a:r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Define a tool the agent can use
</a:t>
            </a:r>
            <a:pPr indent="0" marL="0">
              <a:buNone/>
            </a:pP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1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get_weather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(location):
</a:t>
            </a:r>
            <a:pPr indent="0" marL="0">
              <a:buNone/>
            </a:pP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11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f"The weather in {location} is 72° and sunny."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[Tool(name=</a:t>
            </a:r>
            <a:pPr indent="0" marL="0">
              <a:buNone/>
            </a:pPr>
            <a:r>
              <a:rPr lang="en-US" sz="11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"WeatherSearch"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func=get_weather,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</a:t>
            </a:r>
            <a:pPr indent="0" marL="0">
              <a:buNone/>
            </a:pPr>
            <a:r>
              <a:rPr lang="en-US" sz="11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 this to find current weather for a city."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ChatOpenAI(model=</a:t>
            </a:r>
            <a:pPr indent="0" marL="0">
              <a:buNone/>
            </a:pPr>
            <a:r>
              <a:rPr lang="en-US" sz="11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"gpt-4"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temperature=</a:t>
            </a:r>
            <a:pPr indent="0" marL="0">
              <a:buNone/>
            </a:pPr>
            <a:r>
              <a:rPr lang="en-US" sz="11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initialize_agent(tools, llm,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agent=AgentType.ZERO_SHOT_REACT_DESCRIPTION, verbose=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Think → Act (call tool) → Observe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agent.run(</a:t>
            </a:r>
            <a:pPr indent="0" marL="0">
              <a:buNone/>
            </a:pPr>
            <a:r>
              <a:rPr lang="en-US" sz="11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 it a good day for a picnic in San Francisco?"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The Infinite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840480" cy="3108960"/>
          </a:xfrm>
          <a:prstGeom prst="rect">
            <a:avLst/>
          </a:prstGeom>
          <a:solidFill>
            <a:srgbClr val="FFF0F0"/>
          </a:solidFill>
          <a:ln w="25400">
            <a:solidFill>
              <a:srgbClr val="FFAA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384048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326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Error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has a "Search Web" tool but...
</a:t>
            </a:r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stopping condition defined
</a:t>
            </a:r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recognition of a "correct" answer
</a:t>
            </a:r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Keeps searching the same query
</a:t>
            </a:r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Racks up API costs infinitely
</a:t>
            </a:r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 never completes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3840480" cy="3108960"/>
          </a:xfrm>
          <a:prstGeom prst="rect">
            <a:avLst/>
          </a:prstGeom>
          <a:solidFill>
            <a:srgbClr val="F0FFF4"/>
          </a:solidFill>
          <a:ln w="25400">
            <a:solidFill>
              <a:srgbClr val="88DD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914400"/>
            <a:ext cx="384048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9326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Fix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46304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guardrails into every agent:
</a:t>
            </a:r>
            <a:pPr indent="0" marL="0">
              <a:buNone/>
            </a:pPr>
            <a:r>
              <a:rPr lang="en-US" sz="13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a clear "Definition of Done"
</a:t>
            </a:r>
            <a:pPr indent="0" marL="0">
              <a:buNone/>
            </a:pPr>
            <a:r>
              <a:rPr lang="en-US" sz="13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the system prompt
</a:t>
            </a:r>
            <a:pPr indent="0" marL="0">
              <a:buNone/>
            </a:pPr>
            <a:r>
              <a:rPr lang="en-US" sz="13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max_iterations in code:
</a:t>
            </a:r>
            <a:pPr indent="0" marL="0">
              <a:buNone/>
            </a:pPr>
            <a:r>
              <a:rPr lang="en-US" sz="13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 = init_agent(...,
  max_iterations=10)
</a:t>
            </a:r>
            <a:pPr indent="0" marL="0">
              <a:buNone/>
            </a:pPr>
            <a:r>
              <a:rPr lang="en-US" sz="13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Always test edge cases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251960"/>
            <a:ext cx="832104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First: Always set limits on how many steps an agent can take.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321040" cy="68580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05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987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brains; Agents are workers.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2618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uses an LLM to decide — and tools to execute.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321040" cy="685800"/>
          </a:xfrm>
          <a:prstGeom prst="rect">
            <a:avLst/>
          </a:prstGeom>
          <a:solidFill>
            <a:srgbClr val="0F1C2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8105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1792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is everything.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06654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operate in a cycle: Observe → Think → Act.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23744"/>
            <a:ext cx="8321040" cy="68580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6151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🛠️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43000" y="2596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the hands.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87121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tools (Zapier, n8n, Python), an agent is just a chatbot.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328416"/>
            <a:ext cx="8321040" cy="685800"/>
          </a:xfrm>
          <a:prstGeom prst="rect">
            <a:avLst/>
          </a:prstGeom>
          <a:solidFill>
            <a:srgbClr val="0F1C2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41985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3401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is dynamic.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6758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break down complex goals without hard-coded steps.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133088"/>
            <a:ext cx="8321040" cy="685800"/>
          </a:xfrm>
          <a:prstGeom prst="rect">
            <a:avLst/>
          </a:prstGeom>
          <a:solidFill>
            <a:srgbClr val="13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2245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43000" y="4206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first.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448056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cap iterations to prevent runaway loops and API costs.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C4B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0C4B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got the Mindset.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Building your first agent with LangChain &amp; n8n.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"While most people use AI as a high-tech encyclopedia,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going to use it as an engine for action."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Bootcamp · Day 1 Complete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Agentic Mindset</dc:title>
  <dc:subject>PptxGenJS Presentation</dc:subject>
  <dc:creator>PptxGenJS</dc:creator>
  <cp:lastModifiedBy>PptxGenJS</cp:lastModifiedBy>
  <cp:revision>1</cp:revision>
  <dcterms:created xsi:type="dcterms:W3CDTF">2026-05-14T13:17:19Z</dcterms:created>
  <dcterms:modified xsi:type="dcterms:W3CDTF">2026-05-14T13:17:19Z</dcterms:modified>
</cp:coreProperties>
</file>